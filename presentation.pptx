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0" b="1">
                <a:solidFill>
                  <a:srgbClr val="E8EDF5"/>
                </a:solidFill>
                <a:latin typeface="Calibri"/>
              </a:rPr>
              <a:t>SMART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8B97AD"/>
                </a:solidFill>
                <a:latin typeface="Calibri"/>
              </a:rPr>
              <a:t>свой </a:t>
            </a:r>
            <a:r>
              <a:rPr sz="3600" b="1">
                <a:solidFill>
                  <a:srgbClr val="4A7DFF"/>
                </a:solidFill>
                <a:latin typeface="Calibri"/>
              </a:rPr>
              <a:t>/</a:t>
            </a:r>
            <a:r>
              <a:rPr sz="3600" b="0">
                <a:solidFill>
                  <a:srgbClr val="8B97AD"/>
                </a:solidFill>
                <a:latin typeface="Calibri"/>
              </a:rPr>
              <a:t> чужой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8B97AD"/>
                </a:solidFill>
                <a:latin typeface="Calibri"/>
              </a:rPr>
              <a:t>ХАКАТОН  ·  IT.БИРЮЛЕВО  ·  19–20 мая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01  ·  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EDF5"/>
                </a:solidFill>
                <a:latin typeface="Calibri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E8EDF5"/>
                </a:solidFill>
                <a:latin typeface="Calibri"/>
              </a:rPr>
              <a:t>Ручная проверка по списку
на входе.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A7DFF"/>
                </a:solidFill>
                <a:latin typeface="Calibri"/>
              </a:rPr>
              <a:t>медленно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проверяющий тратит секунды на каждого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7548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A7DFF"/>
                </a:solidFill>
                <a:latin typeface="Calibri"/>
              </a:rPr>
              <a:t>ненадёжно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257800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зависит от внимательности и устаёт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7548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A7DFF"/>
                </a:solidFill>
                <a:latin typeface="Calibri"/>
              </a:rPr>
              <a:t>без аудита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5257800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история решений нигде не сохраняется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02  · 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DF5"/>
                </a:solidFill>
                <a:latin typeface="Calibri"/>
              </a:rPr>
              <a:t>Три исхода. Один сервис.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B97AD"/>
                </a:solidFill>
                <a:latin typeface="Calibri"/>
              </a:rPr>
              <a:t>Сравнение с базой по биометрии. Решение за миллисекунды.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587" y="274320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6587" y="2743200"/>
            <a:ext cx="3520440" cy="73152"/>
          </a:xfrm>
          <a:prstGeom prst="roundRect">
            <a:avLst>
              <a:gd name="adj" fmla="val 0"/>
            </a:avLst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347" y="32004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7DFF"/>
                </a:solidFill>
                <a:latin typeface="Calibri"/>
              </a:rPr>
              <a:t>СВОЙ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347" y="37490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6C98A"/>
                </a:solidFill>
                <a:latin typeface="Calibri"/>
              </a:rPr>
              <a:t>Доступ разрешён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347" y="502920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совпадение выше порога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5627" y="274320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5627" y="2743200"/>
            <a:ext cx="3520440" cy="73152"/>
          </a:xfrm>
          <a:prstGeom prst="roundRect">
            <a:avLst>
              <a:gd name="adj" fmla="val 0"/>
            </a:avLst>
          </a:prstGeom>
          <a:solidFill>
            <a:srgbClr val="3D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1387" y="32004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4A60"/>
                </a:solidFill>
                <a:latin typeface="Calibri"/>
              </a:rPr>
              <a:t>ЧУЖОЙ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1387" y="37490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8B97AD"/>
                </a:solidFill>
                <a:latin typeface="Calibri"/>
              </a:rPr>
              <a:t>Доступ запрещён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1387" y="502920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ниже порога — unknown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4667" y="274320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4667" y="2743200"/>
            <a:ext cx="3520440" cy="73152"/>
          </a:xfrm>
          <a:prstGeom prst="roundRect">
            <a:avLst>
              <a:gd name="adj" fmla="val 0"/>
            </a:avLst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0427" y="32004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5D6C"/>
                </a:solidFill>
                <a:latin typeface="Calibri"/>
              </a:rPr>
              <a:t>ЧЁРНЫЙ СПИСОК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0427" y="374904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5D6C"/>
                </a:solidFill>
                <a:latin typeface="Calibri"/>
              </a:rPr>
              <a:t>Блокировка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0427" y="5029200"/>
            <a:ext cx="2788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запрет независимо от 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03  · 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DF5"/>
                </a:solidFill>
                <a:latin typeface="Calibri"/>
              </a:rPr>
              <a:t>Минимум зависимостей.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B97AD"/>
                </a:solidFill>
                <a:latin typeface="Calibri"/>
              </a:rPr>
              <a:t>Только то, что реально работает на железе хакатона.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9008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7DFF"/>
                </a:solidFill>
                <a:latin typeface="Calibri"/>
              </a:rPr>
              <a:t>98% логики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3756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8EDF5"/>
                </a:solidFill>
                <a:latin typeface="Calibri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8620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вся бизнес-логика, CLI, веб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6974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99008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7DFF"/>
                </a:solidFill>
                <a:latin typeface="Calibri"/>
              </a:rPr>
              <a:t>SQL-БД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3756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8EDF5"/>
                </a:solidFill>
                <a:latin typeface="Calibri"/>
              </a:rP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88620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5 таблиц: люди, группы, признаки, проверки, настройки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91032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7DFF"/>
                </a:solidFill>
                <a:latin typeface="Calibri"/>
              </a:rPr>
              <a:t>YuNet + SFace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5780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8EDF5"/>
                </a:solidFill>
                <a:latin typeface="Calibri"/>
              </a:rPr>
              <a:t>OpenCV DNN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80644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детекция лиц и 128-d эмбеддинги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61772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91032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7DFF"/>
                </a:solidFill>
                <a:latin typeface="Calibri"/>
              </a:rPr>
              <a:t>сравнение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25780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8EDF5"/>
                </a:solidFill>
                <a:latin typeface="Calibri"/>
              </a:rPr>
              <a:t>Косинусная близость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80644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одно матричное умножение numpy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04  ·  БАЗА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DF5"/>
                </a:solidFill>
                <a:latin typeface="Calibri"/>
              </a:rPr>
              <a:t>Что хранится в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B97AD"/>
                </a:solidFill>
                <a:latin typeface="Calibri"/>
              </a:rPr>
              <a:t>Пять таблиц SQLite — лица, группы, признаки, проверки, настройки.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698480" cy="566928"/>
          </a:xfrm>
          <a:prstGeom prst="roundRect">
            <a:avLst>
              <a:gd name="adj" fmla="val 18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7DFF"/>
                </a:solidFill>
                <a:latin typeface="Consolas"/>
              </a:rPr>
              <a:t>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83464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DF5"/>
                </a:solidFill>
                <a:latin typeface="Calibri"/>
              </a:rPr>
              <a:t>группы доступа: свой / чужой / чёрный список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74136"/>
            <a:ext cx="10698480" cy="566928"/>
          </a:xfrm>
          <a:prstGeom prst="roundRect">
            <a:avLst>
              <a:gd name="adj" fmla="val 18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9300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7DFF"/>
                </a:solidFill>
                <a:latin typeface="Consolas"/>
              </a:rPr>
              <a:t>persons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511296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DF5"/>
                </a:solidFill>
                <a:latin typeface="Calibri"/>
              </a:rPr>
              <a:t>люди: имя, группа, статус active|removed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50792"/>
            <a:ext cx="10698480" cy="566928"/>
          </a:xfrm>
          <a:prstGeom prst="roundRect">
            <a:avLst>
              <a:gd name="adj" fmla="val 18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966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7DFF"/>
                </a:solidFill>
                <a:latin typeface="Consolas"/>
              </a:rPr>
              <a:t>face_features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187952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DF5"/>
                </a:solidFill>
                <a:latin typeface="Calibri"/>
              </a:rPr>
              <a:t>биометрические признаки — эмбеддинги (BLOB)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27448"/>
            <a:ext cx="10698480" cy="566928"/>
          </a:xfrm>
          <a:prstGeom prst="roundRect">
            <a:avLst>
              <a:gd name="adj" fmla="val 18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7DFF"/>
                </a:solidFill>
                <a:latin typeface="Consolas"/>
              </a:rPr>
              <a:t>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864608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DF5"/>
                </a:solidFill>
                <a:latin typeface="Calibri"/>
              </a:rPr>
              <a:t>журнал: дата, лицо, %, режим, решение, причина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04104"/>
            <a:ext cx="10698480" cy="566928"/>
          </a:xfrm>
          <a:prstGeom prst="roundRect">
            <a:avLst>
              <a:gd name="adj" fmla="val 18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2297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7DFF"/>
                </a:solidFill>
                <a:latin typeface="Consolas"/>
              </a:rPr>
              <a:t>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541264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DF5"/>
                </a:solidFill>
                <a:latin typeface="Calibri"/>
              </a:rPr>
              <a:t>порог совпадения и режим по умолчанию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05  ·  АЛГОРИТМ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DF5"/>
                </a:solidFill>
                <a:latin typeface="Calibri"/>
              </a:rPr>
              <a:t>Как принимается решение.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B97AD"/>
                </a:solidFill>
                <a:latin typeface="Calibri"/>
              </a:rPr>
              <a:t>Четыре шага. Несколько десятков миллисекунд на кадр.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2697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6627" y="3063240"/>
            <a:ext cx="502920" cy="502920"/>
          </a:xfrm>
          <a:prstGeom prst="ellipse">
            <a:avLst/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6627" y="3794760"/>
            <a:ext cx="1874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EDF5"/>
                </a:solidFill>
                <a:latin typeface="Calibri"/>
              </a:rPr>
              <a:t>Детекция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627" y="452628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YuNet находит лицо в кадре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2697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41267" y="3063240"/>
            <a:ext cx="502920" cy="502920"/>
          </a:xfrm>
          <a:prstGeom prst="ellipse">
            <a:avLst/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1267" y="3794760"/>
            <a:ext cx="1874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EDF5"/>
                </a:solidFill>
                <a:latin typeface="Calibri"/>
              </a:rPr>
              <a:t>Эмбеддинг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1267" y="452628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SFace → 128 чисел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2697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5907" y="3063240"/>
            <a:ext cx="502920" cy="502920"/>
          </a:xfrm>
          <a:prstGeom prst="ellipse">
            <a:avLst/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5907" y="3794760"/>
            <a:ext cx="1874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EDF5"/>
                </a:solidFill>
                <a:latin typeface="Calibri"/>
              </a:rPr>
              <a:t>Поиск в БД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5907" y="452628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ближайший вектор +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2697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0547" y="3063240"/>
            <a:ext cx="502920" cy="502920"/>
          </a:xfrm>
          <a:prstGeom prst="ellipse">
            <a:avLst/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0547" y="3794760"/>
            <a:ext cx="1874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EDF5"/>
                </a:solidFill>
                <a:latin typeface="Calibri"/>
              </a:rPr>
              <a:t>Решение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0547" y="452628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режим, порог, журнал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06  ·  СВЕРХ ТЗ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DF5"/>
                </a:solidFill>
                <a:latin typeface="Calibri"/>
              </a:rPr>
              <a:t>Что добавили сверху.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B97AD"/>
                </a:solidFill>
                <a:latin typeface="Calibri"/>
              </a:rPr>
              <a:t>ТЗ закрыто полностью. Добавили удобство для защиты.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3063240"/>
            <a:ext cx="457200" cy="457200"/>
          </a:xfrm>
          <a:prstGeom prst="ellipse">
            <a:avLst/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063240"/>
            <a:ext cx="3977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EDF5"/>
                </a:solidFill>
                <a:latin typeface="Calibri"/>
              </a:rPr>
              <a:t>Веб-камера в браузере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40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живое распознавание через WebRTC, рамки и вердикт поверх видео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6974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3063240"/>
            <a:ext cx="457200" cy="457200"/>
          </a:xfrm>
          <a:prstGeom prst="ellipse">
            <a:avLst/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063240"/>
            <a:ext cx="3977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EDF5"/>
                </a:solidFill>
                <a:latin typeface="Calibri"/>
              </a:rPr>
              <a:t>Добавление кликом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749040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клик по лицу → модальное окно «введите имя» → сразу в базу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5029200"/>
            <a:ext cx="457200" cy="457200"/>
          </a:xfrm>
          <a:prstGeom prst="ellipse">
            <a:avLst/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029200"/>
            <a:ext cx="3977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EDF5"/>
                </a:solidFill>
                <a:latin typeface="Calibri"/>
              </a:rPr>
              <a:t>Поиск по базе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15000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мгновенный фильтр по имени в таблице людей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66344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029200"/>
            <a:ext cx="3977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EDF5"/>
                </a:solidFill>
                <a:latin typeface="Calibri"/>
              </a:rPr>
              <a:t>HTTPS-деплой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715000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Let's Encrypt + systemd, не задели чужие сервисы на сервере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A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7AD"/>
                </a:solidFill>
                <a:latin typeface="Calibri"/>
              </a:rPr>
              <a:t>07  ·  ДЕМО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EDF5"/>
                </a:solidFill>
                <a:latin typeface="Calibri"/>
              </a:rPr>
              <a:t>Открой и попробуй.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1920240"/>
          </a:xfrm>
          <a:prstGeom prst="roundRect">
            <a:avLst>
              <a:gd name="adj" fmla="val 6000"/>
            </a:avLst>
          </a:prstGeom>
          <a:solidFill>
            <a:srgbClr val="2B3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B97AD"/>
                </a:solidFill>
                <a:latin typeface="Calibri"/>
              </a:rPr>
              <a:t>веб-сайт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4A7DFF"/>
                </a:solidFill>
                <a:latin typeface="Consolas"/>
              </a:rPr>
              <a:t>https://iotacruto.duckdns.org:9443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B97AD"/>
                </a:solidFill>
                <a:latin typeface="Calibri"/>
              </a:rPr>
              <a:t>Let's Encrypt · авто-запуск через systemd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323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646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B97AD"/>
                </a:solidFill>
                <a:latin typeface="Calibri"/>
              </a:rPr>
              <a:t>исходный код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303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EDF5"/>
                </a:solidFill>
                <a:latin typeface="Consolas"/>
              </a:rPr>
              <a:t>github.com/Max0209-web/smart-vision-faceid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8B97AD"/>
                </a:solidFill>
                <a:latin typeface="Calibri"/>
              </a:rPr>
              <a:t>Спасибо.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