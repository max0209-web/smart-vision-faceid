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114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23160"/>
            <a:ext cx="10698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>
                <a:solidFill>
                  <a:srgbClr val="E8EDF5"/>
                </a:solidFill>
                <a:latin typeface="Calibri"/>
              </a:rPr>
              <a:t>SMART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033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0">
                <a:solidFill>
                  <a:srgbClr val="8B97AD"/>
                </a:solidFill>
                <a:latin typeface="Calibri"/>
              </a:rPr>
              <a:t>свой </a:t>
            </a:r>
            <a:r>
              <a:rPr sz="3600" b="1">
                <a:solidFill>
                  <a:srgbClr val="4A7DFF"/>
                </a:solidFill>
                <a:latin typeface="Calibri"/>
              </a:rPr>
              <a:t>/</a:t>
            </a:r>
            <a:r>
              <a:rPr sz="3600" b="0">
                <a:solidFill>
                  <a:srgbClr val="8B97AD"/>
                </a:solidFill>
                <a:latin typeface="Calibri"/>
              </a:rPr>
              <a:t> чужой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0807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8B97AD"/>
                </a:solidFill>
                <a:latin typeface="Calibri"/>
              </a:rPr>
              <a:t>ХАКАТОН  ·  IT.БИРЮЛЕВО  ·  19–20 мая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114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97AD"/>
                </a:solidFill>
                <a:latin typeface="Calibri"/>
              </a:rPr>
              <a:t>01  ·  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E8EDF5"/>
                </a:solidFill>
                <a:latin typeface="Calibri"/>
              </a:rPr>
              <a:t>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E8EDF5"/>
                </a:solidFill>
                <a:latin typeface="Calibri"/>
              </a:rPr>
              <a:t>Ручная проверка по списку
на входе.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4A7DFF"/>
                </a:solidFill>
                <a:latin typeface="Calibri"/>
              </a:rPr>
              <a:t>медленно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57800"/>
            <a:ext cx="3474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97AD"/>
                </a:solidFill>
                <a:latin typeface="Calibri"/>
              </a:rPr>
              <a:t>проверяющий тратит секунды на каждого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4A7DFF"/>
                </a:solidFill>
                <a:latin typeface="Calibri"/>
              </a:rPr>
              <a:t>ненадёжно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257800"/>
            <a:ext cx="3474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97AD"/>
                </a:solidFill>
                <a:latin typeface="Calibri"/>
              </a:rPr>
              <a:t>зависит от внимательности и устаёт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47548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4A7DFF"/>
                </a:solidFill>
                <a:latin typeface="Calibri"/>
              </a:rPr>
              <a:t>без аудита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5257800"/>
            <a:ext cx="3474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97AD"/>
                </a:solidFill>
                <a:latin typeface="Calibri"/>
              </a:rPr>
              <a:t>история решений нигде не сохраняется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114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97AD"/>
                </a:solidFill>
                <a:latin typeface="Calibri"/>
              </a:rPr>
              <a:t>02  ·  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8EDF5"/>
                </a:solidFill>
                <a:latin typeface="Calibri"/>
              </a:rPr>
              <a:t>Три исхода. Один сервис.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B97AD"/>
                </a:solidFill>
                <a:latin typeface="Calibri"/>
              </a:rPr>
              <a:t>Сравнение с базой по биометрии. Решение за миллисекунды.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587" y="2743200"/>
            <a:ext cx="3520440" cy="3383280"/>
          </a:xfrm>
          <a:prstGeom prst="roundRect">
            <a:avLst>
              <a:gd name="adj" fmla="val 6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86587" y="2743200"/>
            <a:ext cx="3520440" cy="73152"/>
          </a:xfrm>
          <a:prstGeom prst="roundRect">
            <a:avLst>
              <a:gd name="adj" fmla="val 0"/>
            </a:avLst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347" y="320040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A7DFF"/>
                </a:solidFill>
                <a:latin typeface="Calibri"/>
              </a:rPr>
              <a:t>СВОЙ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347" y="374904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36C98A"/>
                </a:solidFill>
                <a:latin typeface="Calibri"/>
              </a:rPr>
              <a:t>Доступ разрешён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347" y="5029200"/>
            <a:ext cx="2788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97AD"/>
                </a:solidFill>
                <a:latin typeface="Calibri"/>
              </a:rPr>
              <a:t>совпадение выше порога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5627" y="2743200"/>
            <a:ext cx="3520440" cy="3383280"/>
          </a:xfrm>
          <a:prstGeom prst="roundRect">
            <a:avLst>
              <a:gd name="adj" fmla="val 6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5627" y="2743200"/>
            <a:ext cx="3520440" cy="73152"/>
          </a:xfrm>
          <a:prstGeom prst="roundRect">
            <a:avLst>
              <a:gd name="adj" fmla="val 0"/>
            </a:avLst>
          </a:prstGeom>
          <a:solidFill>
            <a:srgbClr val="3D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1387" y="320040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A60"/>
                </a:solidFill>
                <a:latin typeface="Calibri"/>
              </a:rPr>
              <a:t>ЧУЖОЙ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1387" y="374904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8B97AD"/>
                </a:solidFill>
                <a:latin typeface="Calibri"/>
              </a:rPr>
              <a:t>Доступ запрещён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1387" y="5029200"/>
            <a:ext cx="2788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97AD"/>
                </a:solidFill>
                <a:latin typeface="Calibri"/>
              </a:rPr>
              <a:t>ниже порога — unknown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4667" y="2743200"/>
            <a:ext cx="3520440" cy="3383280"/>
          </a:xfrm>
          <a:prstGeom prst="roundRect">
            <a:avLst>
              <a:gd name="adj" fmla="val 6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84667" y="2743200"/>
            <a:ext cx="3520440" cy="73152"/>
          </a:xfrm>
          <a:prstGeom prst="roundRect">
            <a:avLst>
              <a:gd name="adj" fmla="val 0"/>
            </a:avLst>
          </a:prstGeom>
          <a:solidFill>
            <a:srgbClr val="FF5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0427" y="320040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5D6C"/>
                </a:solidFill>
                <a:latin typeface="Calibri"/>
              </a:rPr>
              <a:t>ЧЁРНЫЙ СПИСОК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0427" y="374904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5D6C"/>
                </a:solidFill>
                <a:latin typeface="Calibri"/>
              </a:rPr>
              <a:t>Блокировка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0427" y="5029200"/>
            <a:ext cx="2788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97AD"/>
                </a:solidFill>
                <a:latin typeface="Calibri"/>
              </a:rPr>
              <a:t>запрет независимо от 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114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97AD"/>
                </a:solidFill>
                <a:latin typeface="Calibri"/>
              </a:rPr>
              <a:t>03  ·  СТЕК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8EDF5"/>
                </a:solidFill>
                <a:latin typeface="Calibri"/>
              </a:rPr>
              <a:t>Минимум зависимостей.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B97AD"/>
                </a:solidFill>
                <a:latin typeface="Calibri"/>
              </a:rPr>
              <a:t>Только то, что реально работает на железе хакатона.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990088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A7DFF"/>
                </a:solidFill>
                <a:latin typeface="Calibri"/>
              </a:rPr>
              <a:t>98% логики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33756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8EDF5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86200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97AD"/>
                </a:solidFill>
                <a:latin typeface="Calibri"/>
              </a:rPr>
              <a:t>вся бизнес-логика, CLI, веб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69748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990088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A7DFF"/>
                </a:solidFill>
                <a:latin typeface="Calibri"/>
              </a:rPr>
              <a:t>SQL-БД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33756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8EDF5"/>
                </a:solidFill>
                <a:latin typeface="Calibri"/>
              </a:rPr>
              <a:t>SQLite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886200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97AD"/>
                </a:solidFill>
                <a:latin typeface="Calibri"/>
              </a:rPr>
              <a:t>5 таблиц: люди, группы, признаки, проверки, настройки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1772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910328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A7DFF"/>
                </a:solidFill>
                <a:latin typeface="Calibri"/>
              </a:rPr>
              <a:t>YuNet + SFace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25780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8EDF5"/>
                </a:solidFill>
                <a:latin typeface="Calibri"/>
              </a:rPr>
              <a:t>OpenCV DNN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806440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97AD"/>
                </a:solidFill>
                <a:latin typeface="Calibri"/>
              </a:rPr>
              <a:t>детекция лиц и 128-d эмбеддинги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61772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910328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A7DFF"/>
                </a:solidFill>
                <a:latin typeface="Calibri"/>
              </a:rPr>
              <a:t>сравнение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525780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8EDF5"/>
                </a:solidFill>
                <a:latin typeface="Calibri"/>
              </a:rPr>
              <a:t>Косинусная близость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806440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97AD"/>
                </a:solidFill>
                <a:latin typeface="Calibri"/>
              </a:rPr>
              <a:t>одно матричное умножение numpy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114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97AD"/>
                </a:solidFill>
                <a:latin typeface="Calibri"/>
              </a:rPr>
              <a:t>04  ·  БАЗА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8EDF5"/>
                </a:solidFill>
                <a:latin typeface="Calibri"/>
              </a:rPr>
              <a:t>Что хранится в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B97AD"/>
                </a:solidFill>
                <a:latin typeface="Calibri"/>
              </a:rPr>
              <a:t>Пять таблиц SQLite — лица, группы, признаки, проверки, настройки.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10698480" cy="566928"/>
          </a:xfrm>
          <a:prstGeom prst="roundRect">
            <a:avLst>
              <a:gd name="adj" fmla="val 18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1635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4A7DFF"/>
                </a:solidFill>
                <a:latin typeface="Consolas"/>
              </a:rPr>
              <a:t>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83464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8EDF5"/>
                </a:solidFill>
                <a:latin typeface="Calibri"/>
              </a:rPr>
              <a:t>группы доступа: свой / чужой / чёрный список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74136"/>
            <a:ext cx="10698480" cy="566928"/>
          </a:xfrm>
          <a:prstGeom prst="roundRect">
            <a:avLst>
              <a:gd name="adj" fmla="val 18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930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4A7DFF"/>
                </a:solidFill>
                <a:latin typeface="Consolas"/>
              </a:rPr>
              <a:t>persons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11296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8EDF5"/>
                </a:solidFill>
                <a:latin typeface="Calibri"/>
              </a:rPr>
              <a:t>люди: имя, группа, статус active|removed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50792"/>
            <a:ext cx="10698480" cy="566928"/>
          </a:xfrm>
          <a:prstGeom prst="roundRect">
            <a:avLst>
              <a:gd name="adj" fmla="val 18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6966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4A7DFF"/>
                </a:solidFill>
                <a:latin typeface="Consolas"/>
              </a:rPr>
              <a:t>face_features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187952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8EDF5"/>
                </a:solidFill>
                <a:latin typeface="Calibri"/>
              </a:rPr>
              <a:t>биометрические признаки — эмбеддинги (BLOB)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727448"/>
            <a:ext cx="10698480" cy="566928"/>
          </a:xfrm>
          <a:prstGeom prst="roundRect">
            <a:avLst>
              <a:gd name="adj" fmla="val 18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8463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4A7DFF"/>
                </a:solidFill>
                <a:latin typeface="Consolas"/>
              </a:rPr>
              <a:t>checks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864608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8EDF5"/>
                </a:solidFill>
                <a:latin typeface="Calibri"/>
              </a:rPr>
              <a:t>журнал: дата, лицо, %, режим, решение, причина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404104"/>
            <a:ext cx="10698480" cy="566928"/>
          </a:xfrm>
          <a:prstGeom prst="roundRect">
            <a:avLst>
              <a:gd name="adj" fmla="val 18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52297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4A7DFF"/>
                </a:solidFill>
                <a:latin typeface="Consolas"/>
              </a:rPr>
              <a:t>settings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5541264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8EDF5"/>
                </a:solidFill>
                <a:latin typeface="Calibri"/>
              </a:rPr>
              <a:t>порог совпадения и режим по умолчанию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114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97AD"/>
                </a:solidFill>
                <a:latin typeface="Calibri"/>
              </a:rPr>
              <a:t>05  ·  АЛГОРИТМ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8EDF5"/>
                </a:solidFill>
                <a:latin typeface="Calibri"/>
              </a:rPr>
              <a:t>Как принимается решение.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B97AD"/>
                </a:solidFill>
                <a:latin typeface="Calibri"/>
              </a:rPr>
              <a:t>Четыре шага. Несколько десятков миллисекунд на кадр.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867" y="2697480"/>
            <a:ext cx="2606040" cy="3017520"/>
          </a:xfrm>
          <a:prstGeom prst="roundRect">
            <a:avLst>
              <a:gd name="adj" fmla="val 6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6627" y="3063240"/>
            <a:ext cx="502920" cy="502920"/>
          </a:xfrm>
          <a:prstGeom prst="ellipse">
            <a:avLst/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6627" y="379476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E8EDF5"/>
                </a:solidFill>
                <a:latin typeface="Calibri"/>
              </a:rPr>
              <a:t>Детекция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6627" y="4526280"/>
            <a:ext cx="1874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97AD"/>
                </a:solidFill>
                <a:latin typeface="Calibri"/>
              </a:rPr>
              <a:t>YuNet находит лицо в кадре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5507" y="2697480"/>
            <a:ext cx="2606040" cy="3017520"/>
          </a:xfrm>
          <a:prstGeom prst="roundRect">
            <a:avLst>
              <a:gd name="adj" fmla="val 6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741267" y="3063240"/>
            <a:ext cx="502920" cy="502920"/>
          </a:xfrm>
          <a:prstGeom prst="ellipse">
            <a:avLst/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1267" y="379476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E8EDF5"/>
                </a:solidFill>
                <a:latin typeface="Calibri"/>
              </a:rPr>
              <a:t>Эмбеддинг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1267" y="4526280"/>
            <a:ext cx="1874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97AD"/>
                </a:solidFill>
                <a:latin typeface="Calibri"/>
              </a:rPr>
              <a:t>SFace → 128 чисел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2697480"/>
            <a:ext cx="2606040" cy="3017520"/>
          </a:xfrm>
          <a:prstGeom prst="roundRect">
            <a:avLst>
              <a:gd name="adj" fmla="val 6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75907" y="3063240"/>
            <a:ext cx="502920" cy="502920"/>
          </a:xfrm>
          <a:prstGeom prst="ellipse">
            <a:avLst/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5907" y="379476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E8EDF5"/>
                </a:solidFill>
                <a:latin typeface="Calibri"/>
              </a:rPr>
              <a:t>Поиск в БД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5907" y="4526280"/>
            <a:ext cx="1874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97AD"/>
                </a:solidFill>
                <a:latin typeface="Calibri"/>
              </a:rPr>
              <a:t>ближайший вектор +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4787" y="2697480"/>
            <a:ext cx="2606040" cy="3017520"/>
          </a:xfrm>
          <a:prstGeom prst="roundRect">
            <a:avLst>
              <a:gd name="adj" fmla="val 6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0547" y="3063240"/>
            <a:ext cx="502920" cy="502920"/>
          </a:xfrm>
          <a:prstGeom prst="ellipse">
            <a:avLst/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0547" y="379476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E8EDF5"/>
                </a:solidFill>
                <a:latin typeface="Calibri"/>
              </a:rPr>
              <a:t>Решение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0547" y="4526280"/>
            <a:ext cx="1874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97AD"/>
                </a:solidFill>
                <a:latin typeface="Calibri"/>
              </a:rPr>
              <a:t>режим, порог, журнал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114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97AD"/>
                </a:solidFill>
                <a:latin typeface="Calibri"/>
              </a:rPr>
              <a:t>06  ·  СВЕРХ ТЗ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8EDF5"/>
                </a:solidFill>
                <a:latin typeface="Calibri"/>
              </a:rPr>
              <a:t>Что добавили сверху.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B97AD"/>
                </a:solidFill>
                <a:latin typeface="Calibri"/>
              </a:rPr>
              <a:t>ТЗ закрыто полностью. Добавили удобство для защиты.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5349240" cy="1828800"/>
          </a:xfrm>
          <a:prstGeom prst="roundRect">
            <a:avLst>
              <a:gd name="adj" fmla="val 6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3063240"/>
            <a:ext cx="457200" cy="457200"/>
          </a:xfrm>
          <a:prstGeom prst="ellipse">
            <a:avLst/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3063240"/>
            <a:ext cx="3977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E8EDF5"/>
                </a:solidFill>
                <a:latin typeface="Calibri"/>
              </a:rPr>
              <a:t>Веб-камера в браузере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49040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97AD"/>
                </a:solidFill>
                <a:latin typeface="Calibri"/>
              </a:rPr>
              <a:t>живое распознавание через WebRTC, рамки и вердикт поверх видео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697480"/>
            <a:ext cx="5349240" cy="1828800"/>
          </a:xfrm>
          <a:prstGeom prst="roundRect">
            <a:avLst>
              <a:gd name="adj" fmla="val 6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9400" y="3063240"/>
            <a:ext cx="457200" cy="457200"/>
          </a:xfrm>
          <a:prstGeom prst="ellipse">
            <a:avLst/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063240"/>
            <a:ext cx="3977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E8EDF5"/>
                </a:solidFill>
                <a:latin typeface="Calibri"/>
              </a:rPr>
              <a:t>Добавление кликом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49040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97AD"/>
                </a:solidFill>
                <a:latin typeface="Calibri"/>
              </a:rPr>
              <a:t>клик по лицу → модальное окно «введите имя» → сразу в базу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63440"/>
            <a:ext cx="5349240" cy="1828800"/>
          </a:xfrm>
          <a:prstGeom prst="roundRect">
            <a:avLst>
              <a:gd name="adj" fmla="val 6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97280" y="5029200"/>
            <a:ext cx="457200" cy="457200"/>
          </a:xfrm>
          <a:prstGeom prst="ellipse">
            <a:avLst/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5029200"/>
            <a:ext cx="3977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E8EDF5"/>
                </a:solidFill>
                <a:latin typeface="Calibri"/>
              </a:rPr>
              <a:t>Поиск по базе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715000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97AD"/>
                </a:solidFill>
                <a:latin typeface="Calibri"/>
              </a:rPr>
              <a:t>мгновенный фильтр по имени в таблице людей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663440"/>
            <a:ext cx="5349240" cy="1828800"/>
          </a:xfrm>
          <a:prstGeom prst="roundRect">
            <a:avLst>
              <a:gd name="adj" fmla="val 6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9400" y="5029200"/>
            <a:ext cx="457200" cy="457200"/>
          </a:xfrm>
          <a:prstGeom prst="ellipse">
            <a:avLst/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5029200"/>
            <a:ext cx="3977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E8EDF5"/>
                </a:solidFill>
                <a:latin typeface="Calibri"/>
              </a:rPr>
              <a:t>HTTPS-деплой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5715000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97AD"/>
                </a:solidFill>
                <a:latin typeface="Calibri"/>
              </a:rPr>
              <a:t>Let's Encrypt + systemd: автозапуск и автопродление сертификата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114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4A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97AD"/>
                </a:solidFill>
                <a:latin typeface="Calibri"/>
              </a:rPr>
              <a:t>07  ·  ДЕМО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8EDF5"/>
                </a:solidFill>
                <a:latin typeface="Calibri"/>
              </a:rPr>
              <a:t>Открой и попробуй.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1920240"/>
          </a:xfrm>
          <a:prstGeom prst="roundRect">
            <a:avLst>
              <a:gd name="adj" fmla="val 6000"/>
            </a:avLst>
          </a:prstGeom>
          <a:solidFill>
            <a:srgbClr val="2B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88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8B97AD"/>
                </a:solidFill>
                <a:latin typeface="Calibri"/>
              </a:rPr>
              <a:t>веб-сайт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1546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4A7DFF"/>
                </a:solidFill>
                <a:latin typeface="Consolas"/>
              </a:rPr>
              <a:t>https://iotacruto.duckdns.org:9443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069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97AD"/>
                </a:solidFill>
                <a:latin typeface="Calibri"/>
              </a:rPr>
              <a:t>Let's Encrypt · авто-запуск через systemd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09160"/>
            <a:ext cx="10698480" cy="1280160"/>
          </a:xfrm>
          <a:prstGeom prst="roundRect">
            <a:avLst>
              <a:gd name="adj" fmla="val 6000"/>
            </a:avLst>
          </a:prstGeom>
          <a:solidFill>
            <a:srgbClr val="323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646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8B97AD"/>
                </a:solidFill>
                <a:latin typeface="Calibri"/>
              </a:rPr>
              <a:t>исходный код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230368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E8EDF5"/>
                </a:solidFill>
                <a:latin typeface="Consolas"/>
              </a:rPr>
              <a:t>github.com/Max0209-web/smart-vision-faceid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8B97AD"/>
                </a:solidFill>
                <a:latin typeface="Calibri"/>
              </a:rPr>
              <a:t>Спасибо.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